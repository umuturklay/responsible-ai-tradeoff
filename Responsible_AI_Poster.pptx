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41696640" cy="3200400"/>
          </a:xfrm>
          <a:prstGeom prst="round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25880"/>
            <a:ext cx="40233600" cy="1920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The Accuracy–Transparency Trade-Off in Responsible 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C7D7E6"/>
                </a:solidFill>
                <a:latin typeface="Calibri"/>
              </a:rPr>
              <a:t>Umut Türklay  ·  49848742  ·  </a:t>
            </a:r>
            <a:r>
              <a:rPr sz="2800" b="0">
                <a:solidFill>
                  <a:srgbClr val="C7D7E6"/>
                </a:solidFill>
                <a:latin typeface="Calibri"/>
              </a:rPr>
              <a:t>Governing Intelligent Systems for Sustainability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754880"/>
            <a:ext cx="13411200" cy="603504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4754880"/>
            <a:ext cx="164592" cy="603504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5047488"/>
            <a:ext cx="713232" cy="71323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24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992624"/>
            <a:ext cx="120396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2E4E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97880"/>
            <a:ext cx="12679679" cy="4663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300" b="0">
                <a:solidFill>
                  <a:srgbClr val="202833"/>
                </a:solidFill>
                <a:latin typeface="Calibri"/>
              </a:rPr>
              <a:t>High-stakes automated decisions — credit, hiring, risk scoring — increasingly rely on machine learning.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300" b="0">
                <a:solidFill>
                  <a:srgbClr val="202833"/>
                </a:solidFill>
                <a:latin typeface="Calibri"/>
              </a:rPr>
              <a:t>Regulations such as the EU AI Act and the GDPR right to explanation demand transparency, which sits in tension with more accurate but opaque black-box models.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5B6672"/>
                </a:solidFill>
                <a:latin typeface="Calibri"/>
              </a:rPr>
              <a:t>This project measures how real, how large, and how fair that trade-off actually is on real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39999" y="4754880"/>
            <a:ext cx="13411200" cy="603504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39999" y="4754880"/>
            <a:ext cx="164592" cy="6035040"/>
          </a:xfrm>
          <a:prstGeom prst="rect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605759" y="5047488"/>
            <a:ext cx="713232" cy="713232"/>
          </a:xfrm>
          <a:prstGeom prst="ellipse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24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20159" y="4992624"/>
            <a:ext cx="120396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2E4E"/>
                </a:solidFill>
                <a:latin typeface="Calibri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1479" y="5897880"/>
            <a:ext cx="12679679" cy="4663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300" b="1">
                <a:solidFill>
                  <a:srgbClr val="202833"/>
                </a:solidFill>
                <a:latin typeface="Calibri"/>
              </a:rPr>
              <a:t>UCI Adult Census Income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02833"/>
                </a:solidFill>
                <a:latin typeface="Calibri"/>
              </a:rPr>
              <a:t>• 48,842 records, 12 features (after cleaning)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02833"/>
                </a:solidFill>
                <a:latin typeface="Calibri"/>
              </a:rPr>
              <a:t>• Target: income &gt; 50K  (positive rate 23.9%)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02833"/>
                </a:solidFill>
                <a:latin typeface="Calibri"/>
              </a:rPr>
              <a:t>• Source: OpenML / Kaggle (public)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02833"/>
                </a:solidFill>
                <a:latin typeface="Calibri"/>
              </a:rPr>
              <a:t>• Dropped fnlwgt (sampling weight) and duplicate education column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B6672"/>
                </a:solidFill>
                <a:latin typeface="Calibri"/>
              </a:rPr>
              <a:t>• Sensitive attributes available: sex, 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82720" y="4754880"/>
            <a:ext cx="13411200" cy="603504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382720" y="4754880"/>
            <a:ext cx="164592" cy="6035040"/>
          </a:xfrm>
          <a:prstGeom prst="rect">
            <a:avLst/>
          </a:prstGeom>
          <a:solidFill>
            <a:srgbClr val="02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48480" y="5047488"/>
            <a:ext cx="713232" cy="713232"/>
          </a:xfrm>
          <a:prstGeom prst="ellipse">
            <a:avLst/>
          </a:prstGeom>
          <a:solidFill>
            <a:srgbClr val="02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68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62880" y="4992624"/>
            <a:ext cx="1213104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E4E"/>
                </a:solidFill>
                <a:latin typeface="Calibri"/>
              </a:rPr>
              <a:t>Research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4200" y="5897880"/>
            <a:ext cx="12679679" cy="4663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029E73"/>
                </a:solidFill>
                <a:latin typeface="Calibri"/>
              </a:rPr>
              <a:t>RQ1  </a:t>
            </a:r>
            <a:r>
              <a:rPr sz="2000" b="0">
                <a:solidFill>
                  <a:srgbClr val="202833"/>
                </a:solidFill>
                <a:latin typeface="Calibri"/>
              </a:rPr>
              <a:t>How large is the accuracy gap between interpretable and black-box models?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029E73"/>
                </a:solidFill>
                <a:latin typeface="Calibri"/>
              </a:rPr>
              <a:t>RQ2  </a:t>
            </a:r>
            <a:r>
              <a:rPr sz="2000" b="0">
                <a:solidFill>
                  <a:srgbClr val="202833"/>
                </a:solidFill>
                <a:latin typeface="Calibri"/>
              </a:rPr>
              <a:t>Where do added complexity and lost transparency stop paying off?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029E73"/>
                </a:solidFill>
                <a:latin typeface="Calibri"/>
              </a:rPr>
              <a:t>RQ3  </a:t>
            </a:r>
            <a:r>
              <a:rPr sz="2000" b="0">
                <a:solidFill>
                  <a:srgbClr val="202833"/>
                </a:solidFill>
                <a:latin typeface="Calibri"/>
              </a:rPr>
              <a:t>Do the models rely on the same features?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029E73"/>
                </a:solidFill>
                <a:latin typeface="Calibri"/>
              </a:rPr>
              <a:t>RQ4  </a:t>
            </a:r>
            <a:r>
              <a:rPr sz="2000" b="0">
                <a:solidFill>
                  <a:srgbClr val="202833"/>
                </a:solidFill>
                <a:latin typeface="Calibri"/>
              </a:rPr>
              <a:t>Is the black-box advantage uniform across demographic subgroups?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029E73"/>
                </a:solidFill>
                <a:latin typeface="Calibri"/>
              </a:rPr>
              <a:t>RQ5  </a:t>
            </a:r>
            <a:r>
              <a:rPr sz="2000" b="0">
                <a:solidFill>
                  <a:srgbClr val="202833"/>
                </a:solidFill>
                <a:latin typeface="Calibri"/>
              </a:rPr>
              <a:t>How faithfully can a compact surrogate mimic the black-box?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0" y="11109960"/>
            <a:ext cx="713232" cy="713232"/>
          </a:xfrm>
          <a:prstGeom prst="ellipse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32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11055096"/>
            <a:ext cx="182880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2E4E"/>
                </a:solidFill>
                <a:latin typeface="Calibri"/>
              </a:rPr>
              <a:t>Methodology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11887200"/>
            <a:ext cx="6035040" cy="2834640"/>
          </a:xfrm>
          <a:prstGeom prst="roundRect">
            <a:avLst/>
          </a:prstGeom>
          <a:solidFill>
            <a:srgbClr val="ECF4FA"/>
          </a:solidFill>
          <a:ln w="19050">
            <a:solidFill>
              <a:srgbClr val="017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B2E4E"/>
                </a:solidFill>
                <a:latin typeface="Calibri"/>
              </a:rPr>
              <a:t>1 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UCI Adult Census
48,842 × 12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69480" y="12893040"/>
            <a:ext cx="822960" cy="822960"/>
          </a:xfrm>
          <a:prstGeom prst="rightArrow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0" y="11887200"/>
            <a:ext cx="6035040" cy="2834640"/>
          </a:xfrm>
          <a:prstGeom prst="roundRect">
            <a:avLst/>
          </a:prstGeom>
          <a:solidFill>
            <a:srgbClr val="ECF4FA"/>
          </a:solidFill>
          <a:ln w="19050">
            <a:solidFill>
              <a:srgbClr val="017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B2E4E"/>
                </a:solidFill>
                <a:latin typeface="Calibri"/>
              </a:rPr>
              <a:t>2  Preprocessing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clean · impute
one-hot · scale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4401800" y="12893040"/>
            <a:ext cx="822960" cy="822960"/>
          </a:xfrm>
          <a:prstGeom prst="rightArrow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361920" y="11887200"/>
            <a:ext cx="6035040" cy="2834640"/>
          </a:xfrm>
          <a:prstGeom prst="roundRect">
            <a:avLst/>
          </a:prstGeom>
          <a:solidFill>
            <a:srgbClr val="ECF4FA"/>
          </a:solidFill>
          <a:ln w="19050">
            <a:solidFill>
              <a:srgbClr val="017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B2E4E"/>
                </a:solidFill>
                <a:latin typeface="Calibri"/>
              </a:rPr>
              <a:t>3  Train / Test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stratified 80/20
seed = 42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1534119" y="12893040"/>
            <a:ext cx="822960" cy="822960"/>
          </a:xfrm>
          <a:prstGeom prst="rightArrow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494239" y="11887200"/>
            <a:ext cx="6035040" cy="2834640"/>
          </a:xfrm>
          <a:prstGeom prst="roundRect">
            <a:avLst/>
          </a:prstGeom>
          <a:solidFill>
            <a:srgbClr val="ECF4FA"/>
          </a:solidFill>
          <a:ln w="19050">
            <a:solidFill>
              <a:srgbClr val="017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B2E4E"/>
                </a:solidFill>
                <a:latin typeface="Calibri"/>
              </a:rPr>
              <a:t>4  Model Training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LogReg · Tree
Random Forest · GB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8666439" y="12893040"/>
            <a:ext cx="822960" cy="822960"/>
          </a:xfrm>
          <a:prstGeom prst="rightArrow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626560" y="11887200"/>
            <a:ext cx="6035040" cy="2834640"/>
          </a:xfrm>
          <a:prstGeom prst="roundRect">
            <a:avLst/>
          </a:prstGeom>
          <a:solidFill>
            <a:srgbClr val="ECF4FA"/>
          </a:solidFill>
          <a:ln w="19050">
            <a:solidFill>
              <a:srgbClr val="017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B2E4E"/>
                </a:solidFill>
                <a:latin typeface="Calibri"/>
              </a:rPr>
              <a:t>5  Evaluation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answer RQ1–RQ5
AUC · fairness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5798760" y="12893040"/>
            <a:ext cx="822960" cy="822960"/>
          </a:xfrm>
          <a:prstGeom prst="rightArrow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758880" y="11887200"/>
            <a:ext cx="6035040" cy="2834640"/>
          </a:xfrm>
          <a:prstGeom prst="roundRect">
            <a:avLst/>
          </a:prstGeom>
          <a:solidFill>
            <a:srgbClr val="ECF4FA"/>
          </a:solidFill>
          <a:ln w="19050">
            <a:solidFill>
              <a:srgbClr val="017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1">
                <a:solidFill>
                  <a:srgbClr val="0B2E4E"/>
                </a:solidFill>
                <a:latin typeface="Calibri"/>
              </a:rPr>
              <a:t>6  Interpretation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figures · tables
conclusions</a:t>
            </a:r>
          </a:p>
        </p:txBody>
      </p:sp>
      <p:sp>
        <p:nvSpPr>
          <p:cNvPr id="33" name="Oval 32"/>
          <p:cNvSpPr/>
          <p:nvPr/>
        </p:nvSpPr>
        <p:spPr>
          <a:xfrm>
            <a:off x="1188720" y="15316200"/>
            <a:ext cx="713232" cy="713232"/>
          </a:xfrm>
          <a:prstGeom prst="ellipse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132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15261336"/>
            <a:ext cx="182880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B2E4E"/>
                </a:solidFill>
                <a:latin typeface="Calibri"/>
              </a:rPr>
              <a:t>Key Results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16002000"/>
            <a:ext cx="13411200" cy="5486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16002000"/>
            <a:ext cx="13411200" cy="164592"/>
          </a:xfrm>
          <a:prstGeom prst="rect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19" y="16276320"/>
            <a:ext cx="12771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E4E"/>
                </a:solidFill>
                <a:latin typeface="Calibri"/>
              </a:rPr>
              <a:t>RQ1 · Accuracy vs Transparency</a:t>
            </a:r>
          </a:p>
        </p:txBody>
      </p:sp>
      <p:pic>
        <p:nvPicPr>
          <p:cNvPr id="38" name="Picture 37" descr="rq1_accuracy_transparency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141" y="16962120"/>
            <a:ext cx="4951476" cy="3429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17319" y="20436840"/>
            <a:ext cx="1277112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02833"/>
                </a:solidFill>
                <a:latin typeface="Calibri"/>
              </a:rPr>
              <a:t>Black-box edge is real but small: GB AUC 0.930 vs LogReg 0.905 (+2.5 pts). Random Forest uses ~2M leaves yet trails — complexity ≠ accuracy.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965680" y="16002000"/>
            <a:ext cx="13411200" cy="5486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965680" y="16002000"/>
            <a:ext cx="13411200" cy="164592"/>
          </a:xfrm>
          <a:prstGeom prst="rect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285720" y="16276320"/>
            <a:ext cx="12771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E4E"/>
                </a:solidFill>
                <a:latin typeface="Calibri"/>
              </a:rPr>
              <a:t>RQ2 · Diminishing Returns</a:t>
            </a:r>
          </a:p>
        </p:txBody>
      </p:sp>
      <p:pic>
        <p:nvPicPr>
          <p:cNvPr id="43" name="Picture 42" descr="rq2_complexity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542" y="16962120"/>
            <a:ext cx="4951476" cy="3429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5285720" y="20436840"/>
            <a:ext cx="1277112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02833"/>
                </a:solidFill>
                <a:latin typeface="Calibri"/>
              </a:rPr>
              <a:t>A depth-8 tree (132 leaves) already matches LogReg; beyond it accuracy falls while transparency keeps degrading.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834080" y="16002000"/>
            <a:ext cx="13411200" cy="5486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834080" y="16002000"/>
            <a:ext cx="13411200" cy="164592"/>
          </a:xfrm>
          <a:prstGeom prst="rect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154120" y="16276320"/>
            <a:ext cx="12771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E4E"/>
                </a:solidFill>
                <a:latin typeface="Calibri"/>
              </a:rPr>
              <a:t>RQ3 · Feature Agreement</a:t>
            </a:r>
          </a:p>
        </p:txBody>
      </p:sp>
      <p:pic>
        <p:nvPicPr>
          <p:cNvPr id="48" name="Picture 47" descr="rq3_feature_importance_agre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1917" y="16962120"/>
            <a:ext cx="5335524" cy="3429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9154120" y="20436840"/>
            <a:ext cx="1277112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02833"/>
                </a:solidFill>
                <a:latin typeface="Calibri"/>
              </a:rPr>
              <a:t>Both model types rely on largely the same features (Spearman ρ = 0.84); GB mainly differs by exploiting the non-linear age effect.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21945600"/>
            <a:ext cx="13411200" cy="5486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7280" y="21945600"/>
            <a:ext cx="13411200" cy="164592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17319" y="22219920"/>
            <a:ext cx="12771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E4E"/>
                </a:solidFill>
                <a:latin typeface="Calibri"/>
              </a:rPr>
              <a:t>RQ4 · Fairness Dimension</a:t>
            </a:r>
          </a:p>
        </p:txBody>
      </p:sp>
      <p:pic>
        <p:nvPicPr>
          <p:cNvPr id="53" name="Picture 52" descr="rq4_subgroup_fairn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549" y="22905720"/>
            <a:ext cx="7574661" cy="3429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17319" y="26380440"/>
            <a:ext cx="1277112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02833"/>
                </a:solidFill>
                <a:latin typeface="Calibri"/>
              </a:rPr>
              <a:t>The advantage is NOT uniform: +0.031 AUC for men vs +0.018 for women. Choosing transparency costs subgroups differently.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965680" y="21945600"/>
            <a:ext cx="13411200" cy="5486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965680" y="21945600"/>
            <a:ext cx="13411200" cy="164592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285720" y="22219920"/>
            <a:ext cx="12771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E4E"/>
                </a:solidFill>
                <a:latin typeface="Calibri"/>
              </a:rPr>
              <a:t>RQ5 · Surrogate Distillation</a:t>
            </a:r>
          </a:p>
        </p:txBody>
      </p:sp>
      <p:pic>
        <p:nvPicPr>
          <p:cNvPr id="58" name="Picture 57" descr="rq5_surrogate_distill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95542" y="22905720"/>
            <a:ext cx="4951476" cy="34290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285720" y="26380440"/>
            <a:ext cx="12771120" cy="9601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02833"/>
                </a:solidFill>
                <a:latin typeface="Calibri"/>
              </a:rPr>
              <a:t>A depth-6 surrogate (47 leaves) reproduces 95.4% of black-box decisions at 0.861 accuracy vs the teacher's 0.875 — an auditable middle ground.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834080" y="21945600"/>
            <a:ext cx="13411200" cy="5486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834080" y="21945600"/>
            <a:ext cx="13411200" cy="164592"/>
          </a:xfrm>
          <a:prstGeom prst="rect">
            <a:avLst/>
          </a:prstGeom>
          <a:solidFill>
            <a:srgbClr val="02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154120" y="22219920"/>
            <a:ext cx="12771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E4E"/>
                </a:solidFill>
                <a:latin typeface="Calibri"/>
              </a:rPr>
              <a:t>Table 1 · Model Performance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29154120" y="22997160"/>
          <a:ext cx="1277111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3870"/>
                <a:gridCol w="2469083"/>
                <a:gridCol w="2469083"/>
                <a:gridCol w="2469083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54864" marT="27432" marB="27432" anchor="ctr">
                    <a:solidFill>
                      <a:srgbClr val="0B2E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91440" marR="54864" marT="27432" marB="27432" anchor="ctr">
                    <a:solidFill>
                      <a:srgbClr val="0B2E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Acc.</a:t>
                      </a:r>
                    </a:p>
                  </a:txBody>
                  <a:tcPr marL="91440" marR="54864" marT="27432" marB="27432" anchor="ctr">
                    <a:solidFill>
                      <a:srgbClr val="0B2E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 marL="91440" marR="54864" marT="27432" marB="27432" anchor="ctr">
                    <a:solidFill>
                      <a:srgbClr val="0B2E4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Decision Tree (d4)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0.874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2,013,240</a:t>
                      </a:r>
                    </a:p>
                  </a:txBody>
                  <a:tcPr marL="91440" marR="54864" marT="27432" marB="27432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0.930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0.875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02833"/>
                          </a:solidFill>
                          <a:latin typeface="Calibri"/>
                        </a:rPr>
                        <a:t>2,635</a:t>
                      </a:r>
                    </a:p>
                  </a:txBody>
                  <a:tcPr marL="91440" marR="54864" marT="27432" marB="27432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29154120" y="26426160"/>
            <a:ext cx="1277112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672"/>
                </a:solidFill>
                <a:latin typeface="Calibri"/>
              </a:rPr>
              <a:t>Units = learned elements a human must inspect to fully understand the model (transparency proxy). Test set, seed 42.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7280" y="27614880"/>
            <a:ext cx="13411200" cy="41148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97280" y="27614880"/>
            <a:ext cx="164592" cy="4114800"/>
          </a:xfrm>
          <a:prstGeom prst="rect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463040" y="27907488"/>
            <a:ext cx="713232" cy="713232"/>
          </a:xfrm>
          <a:prstGeom prst="ellipse">
            <a:avLst/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24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440" y="27852624"/>
            <a:ext cx="120396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B2E4E"/>
                </a:solidFill>
                <a:latin typeface="Calibri"/>
              </a:rPr>
              <a:t>Contributions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08760" y="28712160"/>
            <a:ext cx="12679679" cy="2788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0173B2"/>
                </a:solidFill>
                <a:latin typeface="Calibri"/>
              </a:rPr>
              <a:t>•  </a:t>
            </a:r>
            <a:r>
              <a:rPr sz="2100" b="0">
                <a:solidFill>
                  <a:srgbClr val="202833"/>
                </a:solidFill>
                <a:latin typeface="Calibri"/>
              </a:rPr>
              <a:t>A measurable transparency axis (decision units)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0173B2"/>
                </a:solidFill>
                <a:latin typeface="Calibri"/>
              </a:rPr>
              <a:t>•  </a:t>
            </a:r>
            <a:r>
              <a:rPr sz="2100" b="0">
                <a:solidFill>
                  <a:srgbClr val="202833"/>
                </a:solidFill>
                <a:latin typeface="Calibri"/>
              </a:rPr>
              <a:t>Quantified trade-off size on real data (~2.5 AUC pts)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0173B2"/>
                </a:solidFill>
                <a:latin typeface="Calibri"/>
              </a:rPr>
              <a:t>•  </a:t>
            </a:r>
            <a:r>
              <a:rPr sz="2100" b="0">
                <a:solidFill>
                  <a:srgbClr val="202833"/>
                </a:solidFill>
                <a:latin typeface="Calibri"/>
              </a:rPr>
              <a:t>Evidence that complexity alone ≠ accuracy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0173B2"/>
                </a:solidFill>
                <a:latin typeface="Calibri"/>
              </a:rPr>
              <a:t>•  </a:t>
            </a:r>
            <a:r>
              <a:rPr sz="2100" b="0">
                <a:solidFill>
                  <a:srgbClr val="202833"/>
                </a:solidFill>
                <a:latin typeface="Calibri"/>
              </a:rPr>
              <a:t>A fairness-aware view of the trade-off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100" b="1">
                <a:solidFill>
                  <a:srgbClr val="0173B2"/>
                </a:solidFill>
                <a:latin typeface="Calibri"/>
              </a:rPr>
              <a:t>•  </a:t>
            </a:r>
            <a:r>
              <a:rPr sz="2100" b="0">
                <a:solidFill>
                  <a:srgbClr val="202833"/>
                </a:solidFill>
                <a:latin typeface="Calibri"/>
              </a:rPr>
              <a:t>Distillation as a practical, auditable remedy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239999" y="27614880"/>
            <a:ext cx="13411200" cy="41148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4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239999" y="27614880"/>
            <a:ext cx="164592" cy="41148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697199" y="27980639"/>
            <a:ext cx="12771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55E00"/>
                </a:solidFill>
                <a:latin typeface="Calibri"/>
              </a:rPr>
              <a:t>Discussion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651479" y="28757880"/>
            <a:ext cx="12679679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>
                <a:solidFill>
                  <a:srgbClr val="202833"/>
                </a:solidFill>
                <a:latin typeface="Calibri"/>
              </a:rPr>
              <a:t>The black-box gain is modest and, under default settings, Random Forest even trails logistic regression — accuracy is not a simple function of complexity.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>
                <a:solidFill>
                  <a:srgbClr val="202833"/>
                </a:solidFill>
                <a:latin typeface="Calibri"/>
              </a:rPr>
              <a:t>Because the advantage is unequal across groups, switching to a black-box is also a governance decision, not only a technical one.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5B6672"/>
                </a:solidFill>
                <a:latin typeface="Calibri"/>
              </a:rPr>
              <a:t>Limitations: one dataset, default hyperparameters, a single transparency proxy.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382720" y="27614880"/>
            <a:ext cx="13411200" cy="4114800"/>
          </a:xfrm>
          <a:prstGeom prst="roundRect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9748480" y="27907488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24" b="1">
                <a:solidFill>
                  <a:srgbClr val="0B2E4E"/>
                </a:solidFill>
                <a:latin typeface="Calibri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662880" y="27852624"/>
            <a:ext cx="120396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794200" y="28895039"/>
            <a:ext cx="12588240" cy="2606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D8E3EF"/>
                </a:solidFill>
                <a:latin typeface="Calibri"/>
              </a:rPr>
              <a:t>The accuracy–transparency trade-off is real but small (~2.5 AUC points), it is not distributed equally across demographic groups, and it can be largely closed by distilling the black-box into a compact, auditable surrogate.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